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5088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Duración</c:v>
                </c:pt>
              </c:strCache>
            </c:strRef>
          </c:tx>
          <c:spPr>
            <a:solidFill>
              <a:srgbClr val="e8384d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e8384d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5a623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c2b2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4a90d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e8384d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f5a623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e8e8f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Titanic</c:v>
                </c:pt>
                <c:pt idx="1">
                  <c:v>Interstellar</c:v>
                </c:pt>
                <c:pt idx="2">
                  <c:v>Avatar</c:v>
                </c:pt>
                <c:pt idx="3">
                  <c:v>Dark Knight</c:v>
                </c:pt>
                <c:pt idx="4">
                  <c:v>Inception</c:v>
                </c:pt>
                <c:pt idx="5">
                  <c:v>Joker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195</c:v>
                </c:pt>
                <c:pt idx="1">
                  <c:v>169</c:v>
                </c:pt>
                <c:pt idx="2">
                  <c:v>162</c:v>
                </c:pt>
                <c:pt idx="3">
                  <c:v>152</c:v>
                </c:pt>
                <c:pt idx="4">
                  <c:v>148</c:v>
                </c:pt>
                <c:pt idx="5">
                  <c:v>122</c:v>
                </c:pt>
              </c:numCache>
            </c:numRef>
          </c:val>
        </c:ser>
        <c:gapWidth val="150"/>
        <c:overlap val="0"/>
        <c:axId val="26703244"/>
        <c:axId val="7867920"/>
      </c:barChart>
      <c:catAx>
        <c:axId val="267032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88aa"/>
                </a:solidFill>
                <a:latin typeface="Arial"/>
              </a:defRPr>
            </a:pPr>
          </a:p>
        </c:txPr>
        <c:crossAx val="7867920"/>
        <c:crosses val="autoZero"/>
        <c:auto val="1"/>
        <c:lblAlgn val="ctr"/>
        <c:lblOffset val="100"/>
        <c:noMultiLvlLbl val="0"/>
      </c:catAx>
      <c:valAx>
        <c:axId val="7867920"/>
        <c:scaling>
          <c:orientation val="minMax"/>
        </c:scaling>
        <c:delete val="0"/>
        <c:axPos val="l"/>
        <c:majorGridlines>
          <c:spPr>
            <a:ln w="6480">
              <a:solidFill>
                <a:srgbClr val="252545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88aa"/>
                </a:solidFill>
                <a:latin typeface="Arial"/>
              </a:defRPr>
            </a:pPr>
          </a:p>
        </c:txPr>
        <c:crossAx val="2670324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0d0d1a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desplaz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ar la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diaposit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el formato de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C584B41-5B85-4009-B6F3-AC7D835DFDF6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858889-0F04-48FE-9875-2CFD45C98D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20F76E-2EB0-4487-8EA0-C3C1E92D50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1BC8F6-D4AD-4E29-A8D6-BAF76009E0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CEDC62-C868-4720-B78F-D815681A44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4A5F9F-28FB-4D38-BFC9-906622A89F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706148-FE6A-457A-97FD-7BCE47A422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664951-93DE-4D5E-B6BC-5782B7CB9B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8FA5CC-BF54-44CC-8331-78EA6BEEBE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FBB484-49D9-4AA3-ACE0-346871F48A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C058A8-B71D-4251-B4F8-5A0FE91723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texto 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73080"/>
            <a:ext cx="319320" cy="657720"/>
          </a:xfrm>
          <a:prstGeom prst="rect">
            <a:avLst/>
          </a:prstGeom>
          <a:solidFill>
            <a:srgbClr val="e8384d">
              <a:alpha val="70000"/>
            </a:srgbClr>
          </a:solidFill>
          <a:ln w="12700">
            <a:solidFill>
              <a:srgbClr val="e8384d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2040" y="155520"/>
            <a:ext cx="255240" cy="493200"/>
          </a:xfrm>
          <a:prstGeom prst="rect">
            <a:avLst/>
          </a:prstGeom>
          <a:solidFill>
            <a:srgbClr val="0a0a16"/>
          </a:solidFill>
          <a:ln w="12700">
            <a:solidFill>
              <a:srgbClr val="0a0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896040"/>
            <a:ext cx="319320" cy="65772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2040" y="978480"/>
            <a:ext cx="255240" cy="493200"/>
          </a:xfrm>
          <a:prstGeom prst="rect">
            <a:avLst/>
          </a:prstGeom>
          <a:solidFill>
            <a:srgbClr val="0a0a16"/>
          </a:solidFill>
          <a:ln w="12700">
            <a:solidFill>
              <a:srgbClr val="0a0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0" y="1719000"/>
            <a:ext cx="319320" cy="657720"/>
          </a:xfrm>
          <a:prstGeom prst="rect">
            <a:avLst/>
          </a:prstGeom>
          <a:solidFill>
            <a:srgbClr val="00c2b2">
              <a:alpha val="70000"/>
            </a:srgbClr>
          </a:solidFill>
          <a:ln w="12700">
            <a:solidFill>
              <a:srgbClr val="00c2b2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2040" y="1801440"/>
            <a:ext cx="255240" cy="493200"/>
          </a:xfrm>
          <a:prstGeom prst="rect">
            <a:avLst/>
          </a:prstGeom>
          <a:solidFill>
            <a:srgbClr val="0a0a16"/>
          </a:solidFill>
          <a:ln w="12700">
            <a:solidFill>
              <a:srgbClr val="0a0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0" y="2541960"/>
            <a:ext cx="319320" cy="657720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2040" y="2624760"/>
            <a:ext cx="255240" cy="493200"/>
          </a:xfrm>
          <a:prstGeom prst="rect">
            <a:avLst/>
          </a:prstGeom>
          <a:solidFill>
            <a:srgbClr val="0a0a16"/>
          </a:solidFill>
          <a:ln w="12700">
            <a:solidFill>
              <a:srgbClr val="0a0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0" y="3365280"/>
            <a:ext cx="319320" cy="657720"/>
          </a:xfrm>
          <a:prstGeom prst="rect">
            <a:avLst/>
          </a:prstGeom>
          <a:solidFill>
            <a:srgbClr val="e8384d">
              <a:alpha val="70000"/>
            </a:srgbClr>
          </a:solidFill>
          <a:ln w="12700">
            <a:solidFill>
              <a:srgbClr val="e8384d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2040" y="3447720"/>
            <a:ext cx="255240" cy="493200"/>
          </a:xfrm>
          <a:prstGeom prst="rect">
            <a:avLst/>
          </a:prstGeom>
          <a:solidFill>
            <a:srgbClr val="0a0a16"/>
          </a:solidFill>
          <a:ln w="12700">
            <a:solidFill>
              <a:srgbClr val="0a0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0" y="4188240"/>
            <a:ext cx="319320" cy="65772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2040" y="4270680"/>
            <a:ext cx="255240" cy="493200"/>
          </a:xfrm>
          <a:prstGeom prst="rect">
            <a:avLst/>
          </a:prstGeom>
          <a:solidFill>
            <a:srgbClr val="0a0a16"/>
          </a:solidFill>
          <a:ln w="12700">
            <a:solidFill>
              <a:srgbClr val="0a0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8823960" y="0"/>
            <a:ext cx="319320" cy="514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40080" y="914400"/>
            <a:ext cx="7863120" cy="155412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40080" y="960120"/>
            <a:ext cx="7863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494" strike="noStrike">
                <a:solidFill>
                  <a:srgbClr val="ffffff"/>
                </a:solidFill>
                <a:latin typeface="Georgia"/>
                <a:ea typeface="Georgia"/>
              </a:rPr>
              <a:t>BASE DE DATOS</a:t>
            </a:r>
            <a:endParaRPr b="0" lang="es-E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40080" y="1600200"/>
            <a:ext cx="7863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395" strike="noStrike">
                <a:solidFill>
                  <a:srgbClr val="f5a623"/>
                </a:solidFill>
                <a:latin typeface="Georgia"/>
                <a:ea typeface="Georgia"/>
              </a:rPr>
              <a:t>CINE MULTIPLEX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914400" y="2697840"/>
            <a:ext cx="7314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e8e8f0"/>
                </a:solidFill>
                <a:latin typeface="Calibri"/>
                <a:ea typeface="Calibri"/>
              </a:rPr>
              <a:t>Proyecto de Base de Datos Completa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594360" y="3292200"/>
            <a:ext cx="2468160" cy="502200"/>
          </a:xfrm>
          <a:prstGeom prst="rect">
            <a:avLst/>
          </a:prstGeom>
          <a:solidFill>
            <a:srgbClr val="252545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594360" y="3292200"/>
            <a:ext cx="2468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2b2"/>
                </a:solidFill>
                <a:latin typeface="Calibri"/>
                <a:ea typeface="Calibri"/>
              </a:rPr>
              <a:t>Módulo: Bases de Datos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3337560" y="3292200"/>
            <a:ext cx="2468160" cy="502200"/>
          </a:xfrm>
          <a:prstGeom prst="rect">
            <a:avLst/>
          </a:prstGeom>
          <a:solidFill>
            <a:srgbClr val="252545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3337560" y="3292200"/>
            <a:ext cx="2468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2b2"/>
                </a:solidFill>
                <a:latin typeface="Calibri"/>
                <a:ea typeface="Calibri"/>
              </a:rPr>
              <a:t>Empresa: Cine Multiplex S.A.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080760" y="3292200"/>
            <a:ext cx="2468160" cy="502200"/>
          </a:xfrm>
          <a:prstGeom prst="rect">
            <a:avLst/>
          </a:prstGeom>
          <a:solidFill>
            <a:srgbClr val="252545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080760" y="3292200"/>
            <a:ext cx="2468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2b2"/>
                </a:solidFill>
                <a:latin typeface="Calibri"/>
                <a:ea typeface="Calibri"/>
              </a:rPr>
              <a:t>MySQL 8.0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57200" y="1828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296" strike="noStrike">
                <a:solidFill>
                  <a:srgbClr val="ffffff"/>
                </a:solidFill>
                <a:latin typeface="Georgia"/>
                <a:ea typeface="Georgia"/>
              </a:rPr>
              <a:t>ÍNDICE DEL PROYECTO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457200" y="749880"/>
            <a:ext cx="54000" cy="3474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640080" y="804600"/>
            <a:ext cx="456480" cy="346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640080" y="80460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01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1234440" y="83196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Tipo de Empresa y Necesidades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640080" y="1307520"/>
            <a:ext cx="456480" cy="3466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640080" y="130752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02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1234440" y="133488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Requisitos del Sistema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640080" y="1810440"/>
            <a:ext cx="456480" cy="346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640080" y="181044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03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1234440" y="183780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Diagrama Entidad / Relación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640080" y="2313360"/>
            <a:ext cx="456480" cy="34668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640080" y="231336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04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1234440" y="234072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Modelo Relacional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640080" y="2816640"/>
            <a:ext cx="456480" cy="346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640080" y="281664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05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1234440" y="284400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Implementación en MySQL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8"/>
          <p:cNvSpPr/>
          <p:nvPr/>
        </p:nvSpPr>
        <p:spPr>
          <a:xfrm>
            <a:off x="640080" y="3319560"/>
            <a:ext cx="456480" cy="3466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640080" y="331956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06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1234440" y="334692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Funcionalidades Extra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1"/>
          <p:cNvSpPr/>
          <p:nvPr/>
        </p:nvSpPr>
        <p:spPr>
          <a:xfrm>
            <a:off x="640080" y="3822480"/>
            <a:ext cx="456480" cy="346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640080" y="382248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a16"/>
                </a:solidFill>
                <a:latin typeface="Calibri"/>
              </a:rPr>
              <a:t>07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1234440" y="3849840"/>
            <a:ext cx="685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e8f0"/>
                </a:solidFill>
                <a:latin typeface="Calibri"/>
                <a:ea typeface="Calibri"/>
              </a:rPr>
              <a:t>Consultas y Resultados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4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365760" y="137160"/>
            <a:ext cx="8411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197" strike="noStrike">
                <a:solidFill>
                  <a:srgbClr val="f5a623"/>
                </a:solidFill>
                <a:latin typeface="Georgia"/>
                <a:ea typeface="Georgia"/>
              </a:rPr>
              <a:t>01  TIPO DE EMPRESA Y NECESIDADES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274320" y="777240"/>
            <a:ext cx="3931200" cy="141696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320040" y="8046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Empresa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347400" y="1170360"/>
            <a:ext cx="3748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c2b2"/>
                </a:solidFill>
                <a:latin typeface="Calibri"/>
                <a:ea typeface="Calibri"/>
              </a:rPr>
              <a:t>Nombre: </a:t>
            </a: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Cine Multiplex S.A.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c2b2"/>
                </a:solidFill>
                <a:latin typeface="Calibri"/>
                <a:ea typeface="Calibri"/>
              </a:rPr>
              <a:t>Sector: </a:t>
            </a: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Entretenimiento / Exhibición cinematográfica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2b2"/>
                </a:solidFill>
                <a:latin typeface="Calibri"/>
                <a:ea typeface="Calibri"/>
              </a:rPr>
              <a:t>Tamaño: </a:t>
            </a: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Grande — 8 departamentos, múltiples salas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4465800" y="777240"/>
            <a:ext cx="2193840" cy="150840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4465800" y="777240"/>
            <a:ext cx="2193840" cy="34668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572000" y="77724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0a16"/>
                </a:solidFill>
                <a:latin typeface="Calibri"/>
                <a:ea typeface="Calibri"/>
              </a:rPr>
              <a:t>Gestión de Salas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4663440" y="1161360"/>
            <a:ext cx="20109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Control de capacidad,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asientos y horarios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4465800" y="2468880"/>
            <a:ext cx="2193840" cy="150840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4465800" y="2468880"/>
            <a:ext cx="2193840" cy="3466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4500000" y="246888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0a16"/>
                </a:solidFill>
                <a:latin typeface="Calibri"/>
                <a:ea typeface="Calibri"/>
              </a:rPr>
              <a:t>Ventas &amp; Entradas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4663440" y="2853360"/>
            <a:ext cx="20109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Registro de tickets,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precios y transacciones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6840000" y="777240"/>
            <a:ext cx="2193840" cy="150840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840000" y="777240"/>
            <a:ext cx="2193840" cy="346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7040880" y="77724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0a16"/>
                </a:solidFill>
                <a:latin typeface="Calibri"/>
                <a:ea typeface="Calibri"/>
              </a:rPr>
              <a:t>Clientes &amp; Puntos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7132320" y="1161360"/>
            <a:ext cx="20109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Fidelización con sistema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de puntos por compra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7"/>
          <p:cNvSpPr/>
          <p:nvPr/>
        </p:nvSpPr>
        <p:spPr>
          <a:xfrm>
            <a:off x="6840000" y="2451600"/>
            <a:ext cx="2193840" cy="150840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6840000" y="2451600"/>
            <a:ext cx="2193840" cy="346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7040880" y="246888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0a16"/>
                </a:solidFill>
                <a:latin typeface="Calibri"/>
                <a:ea typeface="Calibri"/>
              </a:rPr>
              <a:t>RRHH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7132320" y="2853360"/>
            <a:ext cx="20109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Control de empleados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por departamento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74320" y="42249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2b2"/>
                </a:solidFill>
                <a:latin typeface="Calibri"/>
                <a:ea typeface="Calibri"/>
              </a:rPr>
              <a:t>Departamentos: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274320" y="4545000"/>
            <a:ext cx="1005120" cy="319320"/>
          </a:xfrm>
          <a:prstGeom prst="rect">
            <a:avLst/>
          </a:prstGeom>
          <a:solidFill>
            <a:srgbClr val="e8384d">
              <a:alpha val="80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27432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Ventas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1371600" y="4545000"/>
            <a:ext cx="1005120" cy="31932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137160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RRHH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26"/>
          <p:cNvSpPr/>
          <p:nvPr/>
        </p:nvSpPr>
        <p:spPr>
          <a:xfrm>
            <a:off x="2468880" y="4545000"/>
            <a:ext cx="1005120" cy="319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246888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Mantenimiento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28"/>
          <p:cNvSpPr/>
          <p:nvPr/>
        </p:nvSpPr>
        <p:spPr>
          <a:xfrm>
            <a:off x="3566160" y="4545000"/>
            <a:ext cx="1005120" cy="319320"/>
          </a:xfrm>
          <a:prstGeom prst="rect">
            <a:avLst/>
          </a:prstGeom>
          <a:solidFill>
            <a:srgbClr val="00c2b2">
              <a:alpha val="80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356616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Marketing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30"/>
          <p:cNvSpPr/>
          <p:nvPr/>
        </p:nvSpPr>
        <p:spPr>
          <a:xfrm>
            <a:off x="4663440" y="4545000"/>
            <a:ext cx="1005120" cy="319320"/>
          </a:xfrm>
          <a:prstGeom prst="rect">
            <a:avLst/>
          </a:prstGeom>
          <a:solidFill>
            <a:srgbClr val="e8384d">
              <a:alpha val="80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31"/>
          <p:cNvSpPr/>
          <p:nvPr/>
        </p:nvSpPr>
        <p:spPr>
          <a:xfrm>
            <a:off x="466344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Programación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32"/>
          <p:cNvSpPr/>
          <p:nvPr/>
        </p:nvSpPr>
        <p:spPr>
          <a:xfrm>
            <a:off x="5760720" y="4545000"/>
            <a:ext cx="1005120" cy="31932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3"/>
          <p:cNvSpPr/>
          <p:nvPr/>
        </p:nvSpPr>
        <p:spPr>
          <a:xfrm>
            <a:off x="576072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Finanzas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4"/>
          <p:cNvSpPr/>
          <p:nvPr/>
        </p:nvSpPr>
        <p:spPr>
          <a:xfrm>
            <a:off x="6858000" y="4545000"/>
            <a:ext cx="1005120" cy="319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5"/>
          <p:cNvSpPr/>
          <p:nvPr/>
        </p:nvSpPr>
        <p:spPr>
          <a:xfrm>
            <a:off x="685800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Atención al Cliente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36"/>
          <p:cNvSpPr/>
          <p:nvPr/>
        </p:nvSpPr>
        <p:spPr>
          <a:xfrm>
            <a:off x="7955280" y="4545000"/>
            <a:ext cx="1005120" cy="319320"/>
          </a:xfrm>
          <a:prstGeom prst="rect">
            <a:avLst/>
          </a:prstGeom>
          <a:solidFill>
            <a:srgbClr val="00c2b2">
              <a:alpha val="80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7955280" y="454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Seguridad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8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365760" y="137160"/>
            <a:ext cx="8411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197" strike="noStrike">
                <a:solidFill>
                  <a:srgbClr val="f5a623"/>
                </a:solidFill>
                <a:latin typeface="Georgia"/>
                <a:ea typeface="Georgia"/>
              </a:rPr>
              <a:t>02  REQUISITOS DEL SISTEMA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274320" y="77724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274320" y="777240"/>
            <a:ext cx="685080" cy="913680"/>
          </a:xfrm>
          <a:prstGeom prst="rect">
            <a:avLst/>
          </a:prstGeom>
          <a:solidFill>
            <a:srgbClr val="e8384d">
              <a:alpha val="85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274320" y="82296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274320" y="125280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24200" y="88704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Gestionar películas: título, duración, clasificación y género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274320" y="182880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274320" y="1828800"/>
            <a:ext cx="685080" cy="913680"/>
          </a:xfrm>
          <a:prstGeom prst="rect">
            <a:avLst/>
          </a:prstGeom>
          <a:solidFill>
            <a:srgbClr val="e8384d">
              <a:alpha val="85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274320" y="187452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274320" y="230436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024200" y="193860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Registrar salas con capacidad y asientos numerados por fila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274320" y="288072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274320" y="2880720"/>
            <a:ext cx="685080" cy="913680"/>
          </a:xfrm>
          <a:prstGeom prst="rect">
            <a:avLst/>
          </a:prstGeom>
          <a:solidFill>
            <a:srgbClr val="e8384d">
              <a:alpha val="85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274320" y="292644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274320" y="335628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1024200" y="299052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Programar sesiones (fecha, hora, película y sala asignada)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274320" y="393228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274320" y="3932280"/>
            <a:ext cx="685080" cy="913680"/>
          </a:xfrm>
          <a:prstGeom prst="rect">
            <a:avLst/>
          </a:prstGeom>
          <a:solidFill>
            <a:srgbClr val="e8384d">
              <a:alpha val="85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274320" y="397800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274320" y="440784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1024200" y="404208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Vender entradas verificando disponibilidad del asiento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4709160" y="77724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3"/>
          <p:cNvSpPr/>
          <p:nvPr/>
        </p:nvSpPr>
        <p:spPr>
          <a:xfrm>
            <a:off x="4709160" y="777240"/>
            <a:ext cx="685080" cy="913680"/>
          </a:xfrm>
          <a:prstGeom prst="rect">
            <a:avLst/>
          </a:prstGeom>
          <a:solidFill>
            <a:srgbClr val="e8384d">
              <a:alpha val="85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4709160" y="82296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4709160" y="125280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5459040" y="88704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Acumular puntos al cliente automáticamente por cada compra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4709160" y="182880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8"/>
          <p:cNvSpPr/>
          <p:nvPr/>
        </p:nvSpPr>
        <p:spPr>
          <a:xfrm>
            <a:off x="4709160" y="1828800"/>
            <a:ext cx="685080" cy="91368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4709160" y="187452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30"/>
          <p:cNvSpPr/>
          <p:nvPr/>
        </p:nvSpPr>
        <p:spPr>
          <a:xfrm>
            <a:off x="4709160" y="230436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No 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5459040" y="193860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Garantizar integridad: claves foráneas y restricción UNIQUE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32"/>
          <p:cNvSpPr/>
          <p:nvPr/>
        </p:nvSpPr>
        <p:spPr>
          <a:xfrm>
            <a:off x="4709160" y="288072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33"/>
          <p:cNvSpPr/>
          <p:nvPr/>
        </p:nvSpPr>
        <p:spPr>
          <a:xfrm>
            <a:off x="4709160" y="2880720"/>
            <a:ext cx="685080" cy="91368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34"/>
          <p:cNvSpPr/>
          <p:nvPr/>
        </p:nvSpPr>
        <p:spPr>
          <a:xfrm>
            <a:off x="4709160" y="292644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5"/>
          <p:cNvSpPr/>
          <p:nvPr/>
        </p:nvSpPr>
        <p:spPr>
          <a:xfrm>
            <a:off x="4709160" y="335628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No 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6"/>
          <p:cNvSpPr/>
          <p:nvPr/>
        </p:nvSpPr>
        <p:spPr>
          <a:xfrm>
            <a:off x="5459040" y="299052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Seguridad: roles diferenciados (admin, vendedor, consultor)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37"/>
          <p:cNvSpPr/>
          <p:nvPr/>
        </p:nvSpPr>
        <p:spPr>
          <a:xfrm>
            <a:off x="4709160" y="3932280"/>
            <a:ext cx="4159800" cy="91368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38"/>
          <p:cNvSpPr/>
          <p:nvPr/>
        </p:nvSpPr>
        <p:spPr>
          <a:xfrm>
            <a:off x="4709160" y="3932280"/>
            <a:ext cx="685080" cy="91368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9"/>
          <p:cNvSpPr/>
          <p:nvPr/>
        </p:nvSpPr>
        <p:spPr>
          <a:xfrm>
            <a:off x="4709160" y="3978000"/>
            <a:ext cx="68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40"/>
          <p:cNvSpPr/>
          <p:nvPr/>
        </p:nvSpPr>
        <p:spPr>
          <a:xfrm>
            <a:off x="4709160" y="4407840"/>
            <a:ext cx="68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No Funcional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41"/>
          <p:cNvSpPr/>
          <p:nvPr/>
        </p:nvSpPr>
        <p:spPr>
          <a:xfrm>
            <a:off x="5459040" y="404208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Rendimiento: vistas pre-calculadas para consultas frecuentes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42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365760" y="109800"/>
            <a:ext cx="8411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197" strike="noStrike">
                <a:solidFill>
                  <a:srgbClr val="f5a623"/>
                </a:solidFill>
                <a:latin typeface="Georgia"/>
                <a:ea typeface="Georgia"/>
              </a:rPr>
              <a:t>03  DIAGRAMA ENTIDAD / RELACIÓN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91440" y="685800"/>
            <a:ext cx="1919520" cy="141696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91440" y="685800"/>
            <a:ext cx="1919520" cy="291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91440" y="68580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DEPARTAMENTO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137160" y="996840"/>
            <a:ext cx="18280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id_departamento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nombre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2331720" y="685800"/>
            <a:ext cx="2010960" cy="150840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2331720" y="685800"/>
            <a:ext cx="2010960" cy="2919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2331720" y="68580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EMPLEADO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2377440" y="996840"/>
            <a:ext cx="19195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id_empleado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nombre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apellido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id_departamento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4709160" y="685800"/>
            <a:ext cx="1873800" cy="95940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4709160" y="685800"/>
            <a:ext cx="1873800" cy="291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4709160" y="685800"/>
            <a:ext cx="1873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PROMOCION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4754880" y="996840"/>
            <a:ext cx="17823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id_promocion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descripcion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descuento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91440" y="2468880"/>
            <a:ext cx="1919520" cy="141696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91440" y="2468880"/>
            <a:ext cx="1919520" cy="2919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91440" y="246888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CLIENTE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137160" y="2780280"/>
            <a:ext cx="18280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id_cliente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nombre, email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telefono, puntos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2331720" y="2468880"/>
            <a:ext cx="2010960" cy="141696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2331720" y="2468880"/>
            <a:ext cx="2010960" cy="291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2331720" y="246888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VENTA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2377440" y="2780280"/>
            <a:ext cx="191952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id_venta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fecha, total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id_cliente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22"/>
          <p:cNvSpPr/>
          <p:nvPr/>
        </p:nvSpPr>
        <p:spPr>
          <a:xfrm>
            <a:off x="4709160" y="2468880"/>
            <a:ext cx="1873800" cy="141696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4709160" y="2468880"/>
            <a:ext cx="1873800" cy="2919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4709160" y="2468880"/>
            <a:ext cx="1873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ENTRADA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4754880" y="2780280"/>
            <a:ext cx="178236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id_entrada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id_venta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id_sesion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id_asiento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26"/>
          <p:cNvSpPr/>
          <p:nvPr/>
        </p:nvSpPr>
        <p:spPr>
          <a:xfrm>
            <a:off x="91440" y="4160880"/>
            <a:ext cx="1919520" cy="77652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27"/>
          <p:cNvSpPr/>
          <p:nvPr/>
        </p:nvSpPr>
        <p:spPr>
          <a:xfrm>
            <a:off x="91440" y="4160880"/>
            <a:ext cx="1919520" cy="2919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8"/>
          <p:cNvSpPr/>
          <p:nvPr/>
        </p:nvSpPr>
        <p:spPr>
          <a:xfrm>
            <a:off x="91440" y="416088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PELICULA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137160" y="4471920"/>
            <a:ext cx="18280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id_pelicula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titulo, genero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0"/>
          <p:cNvSpPr/>
          <p:nvPr/>
        </p:nvSpPr>
        <p:spPr>
          <a:xfrm>
            <a:off x="2331720" y="4160880"/>
            <a:ext cx="2010960" cy="77652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31"/>
          <p:cNvSpPr/>
          <p:nvPr/>
        </p:nvSpPr>
        <p:spPr>
          <a:xfrm>
            <a:off x="2331720" y="4160880"/>
            <a:ext cx="2010960" cy="291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32"/>
          <p:cNvSpPr/>
          <p:nvPr/>
        </p:nvSpPr>
        <p:spPr>
          <a:xfrm>
            <a:off x="2331720" y="416088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SESION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2377440" y="4471920"/>
            <a:ext cx="191952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id_sesion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fecha, hora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id_pelicula, FK id_sala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34"/>
          <p:cNvSpPr/>
          <p:nvPr/>
        </p:nvSpPr>
        <p:spPr>
          <a:xfrm>
            <a:off x="4709160" y="4160880"/>
            <a:ext cx="1873800" cy="77652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35"/>
          <p:cNvSpPr/>
          <p:nvPr/>
        </p:nvSpPr>
        <p:spPr>
          <a:xfrm>
            <a:off x="4709160" y="4160880"/>
            <a:ext cx="1873800" cy="291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36"/>
          <p:cNvSpPr/>
          <p:nvPr/>
        </p:nvSpPr>
        <p:spPr>
          <a:xfrm>
            <a:off x="4709160" y="4160880"/>
            <a:ext cx="1873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SALA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7"/>
          <p:cNvSpPr/>
          <p:nvPr/>
        </p:nvSpPr>
        <p:spPr>
          <a:xfrm>
            <a:off x="4754880" y="4471920"/>
            <a:ext cx="17823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id_sala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nombre, capacidad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38"/>
          <p:cNvSpPr/>
          <p:nvPr/>
        </p:nvSpPr>
        <p:spPr>
          <a:xfrm>
            <a:off x="6812280" y="4160880"/>
            <a:ext cx="1873800" cy="77652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39"/>
          <p:cNvSpPr/>
          <p:nvPr/>
        </p:nvSpPr>
        <p:spPr>
          <a:xfrm>
            <a:off x="6812280" y="4160880"/>
            <a:ext cx="1873800" cy="2919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40"/>
          <p:cNvSpPr/>
          <p:nvPr/>
        </p:nvSpPr>
        <p:spPr>
          <a:xfrm>
            <a:off x="6812280" y="4160880"/>
            <a:ext cx="1873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a16"/>
                </a:solidFill>
                <a:latin typeface="Calibri"/>
                <a:ea typeface="Calibri"/>
              </a:rPr>
              <a:t>ASIENTO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41"/>
          <p:cNvSpPr/>
          <p:nvPr/>
        </p:nvSpPr>
        <p:spPr>
          <a:xfrm>
            <a:off x="6858000" y="4471920"/>
            <a:ext cx="17823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PK id_asiento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   </a:t>
            </a:r>
            <a:r>
              <a:rPr b="0" lang="en-US" sz="900" spc="-1" strike="noStrike">
                <a:solidFill>
                  <a:srgbClr val="e8e8f0"/>
                </a:solidFill>
                <a:latin typeface="Calibri"/>
                <a:ea typeface="Calibri"/>
              </a:rPr>
              <a:t>fila, numero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c2b2"/>
                </a:solidFill>
                <a:latin typeface="Calibri"/>
                <a:ea typeface="Calibri"/>
              </a:rPr>
              <a:t>FK id_sala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42"/>
          <p:cNvSpPr/>
          <p:nvPr/>
        </p:nvSpPr>
        <p:spPr>
          <a:xfrm>
            <a:off x="2011320" y="1481040"/>
            <a:ext cx="320400" cy="36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43"/>
          <p:cNvSpPr/>
          <p:nvPr/>
        </p:nvSpPr>
        <p:spPr>
          <a:xfrm>
            <a:off x="1989000" y="1080000"/>
            <a:ext cx="36504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1:N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44"/>
          <p:cNvSpPr/>
          <p:nvPr/>
        </p:nvSpPr>
        <p:spPr>
          <a:xfrm>
            <a:off x="2011680" y="3173040"/>
            <a:ext cx="320040" cy="36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45"/>
          <p:cNvSpPr/>
          <p:nvPr/>
        </p:nvSpPr>
        <p:spPr>
          <a:xfrm>
            <a:off x="1989000" y="2880360"/>
            <a:ext cx="365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1:N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46"/>
          <p:cNvSpPr/>
          <p:nvPr/>
        </p:nvSpPr>
        <p:spPr>
          <a:xfrm>
            <a:off x="4343400" y="3173040"/>
            <a:ext cx="365760" cy="36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47"/>
          <p:cNvSpPr/>
          <p:nvPr/>
        </p:nvSpPr>
        <p:spPr>
          <a:xfrm>
            <a:off x="4343400" y="3063600"/>
            <a:ext cx="365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1:N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48"/>
          <p:cNvSpPr/>
          <p:nvPr/>
        </p:nvSpPr>
        <p:spPr>
          <a:xfrm>
            <a:off x="3337560" y="3886560"/>
            <a:ext cx="360" cy="27432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49"/>
          <p:cNvSpPr/>
          <p:nvPr/>
        </p:nvSpPr>
        <p:spPr>
          <a:xfrm>
            <a:off x="2880000" y="3913920"/>
            <a:ext cx="639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1:N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50"/>
          <p:cNvSpPr/>
          <p:nvPr/>
        </p:nvSpPr>
        <p:spPr>
          <a:xfrm>
            <a:off x="5641560" y="3886560"/>
            <a:ext cx="360" cy="27432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51"/>
          <p:cNvSpPr/>
          <p:nvPr/>
        </p:nvSpPr>
        <p:spPr>
          <a:xfrm>
            <a:off x="5459040" y="3913920"/>
            <a:ext cx="66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1:N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52"/>
          <p:cNvSpPr/>
          <p:nvPr/>
        </p:nvSpPr>
        <p:spPr>
          <a:xfrm>
            <a:off x="1051560" y="3886560"/>
            <a:ext cx="360" cy="27432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53"/>
          <p:cNvSpPr/>
          <p:nvPr/>
        </p:nvSpPr>
        <p:spPr>
          <a:xfrm>
            <a:off x="868680" y="3913920"/>
            <a:ext cx="750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1:N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54"/>
          <p:cNvSpPr/>
          <p:nvPr/>
        </p:nvSpPr>
        <p:spPr>
          <a:xfrm>
            <a:off x="2011680" y="4572360"/>
            <a:ext cx="320040" cy="36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55"/>
          <p:cNvSpPr/>
          <p:nvPr/>
        </p:nvSpPr>
        <p:spPr>
          <a:xfrm>
            <a:off x="1989000" y="4320360"/>
            <a:ext cx="36504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N:1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56"/>
          <p:cNvSpPr/>
          <p:nvPr/>
        </p:nvSpPr>
        <p:spPr>
          <a:xfrm>
            <a:off x="4343400" y="4572360"/>
            <a:ext cx="365760" cy="36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57"/>
          <p:cNvSpPr/>
          <p:nvPr/>
        </p:nvSpPr>
        <p:spPr>
          <a:xfrm>
            <a:off x="4343400" y="4462560"/>
            <a:ext cx="365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N:1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58"/>
          <p:cNvSpPr/>
          <p:nvPr/>
        </p:nvSpPr>
        <p:spPr>
          <a:xfrm>
            <a:off x="6583680" y="4572360"/>
            <a:ext cx="228600" cy="360"/>
          </a:xfrm>
          <a:prstGeom prst="line">
            <a:avLst/>
          </a:prstGeom>
          <a:ln w="12700">
            <a:solidFill>
              <a:srgbClr val="8888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59"/>
          <p:cNvSpPr/>
          <p:nvPr/>
        </p:nvSpPr>
        <p:spPr>
          <a:xfrm>
            <a:off x="6515280" y="4320360"/>
            <a:ext cx="36504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8888aa"/>
                </a:solidFill>
                <a:latin typeface="Calibri"/>
              </a:rPr>
              <a:t>N:1</a:t>
            </a:r>
            <a:endParaRPr b="0" lang="es-E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60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365760" y="109800"/>
            <a:ext cx="8411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197" strike="noStrike">
                <a:solidFill>
                  <a:srgbClr val="f5a623"/>
                </a:solidFill>
                <a:latin typeface="Georgia"/>
                <a:ea typeface="Georgia"/>
              </a:rPr>
              <a:t>04  MODELO RELACIONAL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182880" y="68580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182880" y="685800"/>
            <a:ext cx="1188000" cy="712440"/>
          </a:xfrm>
          <a:prstGeom prst="rect">
            <a:avLst/>
          </a:prstGeom>
          <a:solidFill>
            <a:srgbClr val="f5a623">
              <a:alpha val="9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182880" y="73152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departamento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182880" y="111564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id_departamento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1444680" y="77724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nombre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182880" y="153612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182880" y="1536120"/>
            <a:ext cx="1188000" cy="712440"/>
          </a:xfrm>
          <a:prstGeom prst="rect">
            <a:avLst/>
          </a:prstGeom>
          <a:solidFill>
            <a:srgbClr val="00c2b2">
              <a:alpha val="90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82880" y="158184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empleado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182880" y="196596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id_empleado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1444680" y="162756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nombre, apellido, puesto,  FK→departamento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182880" y="238644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182880" y="2386440"/>
            <a:ext cx="1188000" cy="712440"/>
          </a:xfrm>
          <a:prstGeom prst="rect">
            <a:avLst/>
          </a:prstGeom>
          <a:solidFill>
            <a:srgbClr val="e8384d">
              <a:alpha val="90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182880" y="243216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cliente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182880" y="281664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id_cliente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1444680" y="247788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nombre, email, telefono, puntos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7"/>
          <p:cNvSpPr/>
          <p:nvPr/>
        </p:nvSpPr>
        <p:spPr>
          <a:xfrm>
            <a:off x="182880" y="323748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8"/>
          <p:cNvSpPr/>
          <p:nvPr/>
        </p:nvSpPr>
        <p:spPr>
          <a:xfrm>
            <a:off x="182880" y="3237480"/>
            <a:ext cx="1188000" cy="712440"/>
          </a:xfrm>
          <a:prstGeom prst="rect">
            <a:avLst/>
          </a:prstGeom>
          <a:solidFill>
            <a:srgbClr val="00c2b2">
              <a:alpha val="90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182880" y="328320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pelicula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182880" y="366696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id_pelicula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1444680" y="332892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titulo, duracion, clasificacion, genero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2"/>
          <p:cNvSpPr/>
          <p:nvPr/>
        </p:nvSpPr>
        <p:spPr>
          <a:xfrm>
            <a:off x="182880" y="408780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23"/>
          <p:cNvSpPr/>
          <p:nvPr/>
        </p:nvSpPr>
        <p:spPr>
          <a:xfrm>
            <a:off x="182880" y="4087800"/>
            <a:ext cx="1188000" cy="712440"/>
          </a:xfrm>
          <a:prstGeom prst="rect">
            <a:avLst/>
          </a:prstGeom>
          <a:solidFill>
            <a:srgbClr val="f5a623">
              <a:alpha val="9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182880" y="413352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sala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182880" y="451764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id_sala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1444680" y="417924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nombre, capacidad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7"/>
          <p:cNvSpPr/>
          <p:nvPr/>
        </p:nvSpPr>
        <p:spPr>
          <a:xfrm>
            <a:off x="4663440" y="68580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28"/>
          <p:cNvSpPr/>
          <p:nvPr/>
        </p:nvSpPr>
        <p:spPr>
          <a:xfrm>
            <a:off x="4663440" y="685800"/>
            <a:ext cx="1188000" cy="712440"/>
          </a:xfrm>
          <a:prstGeom prst="rect">
            <a:avLst/>
          </a:prstGeom>
          <a:solidFill>
            <a:srgbClr val="4a90d9">
              <a:alpha val="90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4663440" y="73152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asiento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4663440" y="111564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id_asiento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5925240" y="77724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fila, numero,  FK→sala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32"/>
          <p:cNvSpPr/>
          <p:nvPr/>
        </p:nvSpPr>
        <p:spPr>
          <a:xfrm>
            <a:off x="4663440" y="153612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33"/>
          <p:cNvSpPr/>
          <p:nvPr/>
        </p:nvSpPr>
        <p:spPr>
          <a:xfrm>
            <a:off x="4663440" y="1536120"/>
            <a:ext cx="1188000" cy="712440"/>
          </a:xfrm>
          <a:prstGeom prst="rect">
            <a:avLst/>
          </a:prstGeom>
          <a:solidFill>
            <a:srgbClr val="4a90d9">
              <a:alpha val="90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4663440" y="158184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sesion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35"/>
          <p:cNvSpPr/>
          <p:nvPr/>
        </p:nvSpPr>
        <p:spPr>
          <a:xfrm>
            <a:off x="4663440" y="196596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id_sesion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6"/>
          <p:cNvSpPr/>
          <p:nvPr/>
        </p:nvSpPr>
        <p:spPr>
          <a:xfrm>
            <a:off x="5925240" y="162756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fecha, hora,  FK→pelicula,  FK→sala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37"/>
          <p:cNvSpPr/>
          <p:nvPr/>
        </p:nvSpPr>
        <p:spPr>
          <a:xfrm>
            <a:off x="4663440" y="238644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38"/>
          <p:cNvSpPr/>
          <p:nvPr/>
        </p:nvSpPr>
        <p:spPr>
          <a:xfrm>
            <a:off x="4663440" y="2386440"/>
            <a:ext cx="1188000" cy="712440"/>
          </a:xfrm>
          <a:prstGeom prst="rect">
            <a:avLst/>
          </a:prstGeom>
          <a:solidFill>
            <a:srgbClr val="e8384d">
              <a:alpha val="90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39"/>
          <p:cNvSpPr/>
          <p:nvPr/>
        </p:nvSpPr>
        <p:spPr>
          <a:xfrm>
            <a:off x="4663440" y="243216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venta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40"/>
          <p:cNvSpPr/>
          <p:nvPr/>
        </p:nvSpPr>
        <p:spPr>
          <a:xfrm>
            <a:off x="4663440" y="281664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id_venta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41"/>
          <p:cNvSpPr/>
          <p:nvPr/>
        </p:nvSpPr>
        <p:spPr>
          <a:xfrm>
            <a:off x="5925240" y="247788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fecha, total,  FK→cliente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42"/>
          <p:cNvSpPr/>
          <p:nvPr/>
        </p:nvSpPr>
        <p:spPr>
          <a:xfrm>
            <a:off x="4663440" y="323748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43"/>
          <p:cNvSpPr/>
          <p:nvPr/>
        </p:nvSpPr>
        <p:spPr>
          <a:xfrm>
            <a:off x="4663440" y="3237480"/>
            <a:ext cx="1188000" cy="712440"/>
          </a:xfrm>
          <a:prstGeom prst="rect">
            <a:avLst/>
          </a:prstGeom>
          <a:solidFill>
            <a:srgbClr val="f5a623">
              <a:alpha val="9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4"/>
          <p:cNvSpPr/>
          <p:nvPr/>
        </p:nvSpPr>
        <p:spPr>
          <a:xfrm>
            <a:off x="4663440" y="328320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entrada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45"/>
          <p:cNvSpPr/>
          <p:nvPr/>
        </p:nvSpPr>
        <p:spPr>
          <a:xfrm>
            <a:off x="4663440" y="366696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id_entrada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6"/>
          <p:cNvSpPr/>
          <p:nvPr/>
        </p:nvSpPr>
        <p:spPr>
          <a:xfrm>
            <a:off x="5925240" y="332892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precio,  FK→venta,  FK→sesion,  FK→asiento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47"/>
          <p:cNvSpPr/>
          <p:nvPr/>
        </p:nvSpPr>
        <p:spPr>
          <a:xfrm>
            <a:off x="4663440" y="4087800"/>
            <a:ext cx="4296960" cy="71244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48"/>
          <p:cNvSpPr/>
          <p:nvPr/>
        </p:nvSpPr>
        <p:spPr>
          <a:xfrm>
            <a:off x="4663440" y="4087800"/>
            <a:ext cx="1188000" cy="712440"/>
          </a:xfrm>
          <a:prstGeom prst="rect">
            <a:avLst/>
          </a:prstGeom>
          <a:solidFill>
            <a:srgbClr val="00c2b2">
              <a:alpha val="90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9"/>
          <p:cNvSpPr/>
          <p:nvPr/>
        </p:nvSpPr>
        <p:spPr>
          <a:xfrm>
            <a:off x="4663440" y="4133520"/>
            <a:ext cx="1188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alibri"/>
                <a:ea typeface="Calibri"/>
              </a:rPr>
              <a:t>promocion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50"/>
          <p:cNvSpPr/>
          <p:nvPr/>
        </p:nvSpPr>
        <p:spPr>
          <a:xfrm>
            <a:off x="4663440" y="451764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a0a16"/>
                </a:solidFill>
                <a:latin typeface="Calibri"/>
                <a:ea typeface="Calibri"/>
              </a:rPr>
              <a:t>PK: id_promocion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51"/>
          <p:cNvSpPr/>
          <p:nvPr/>
        </p:nvSpPr>
        <p:spPr>
          <a:xfrm>
            <a:off x="5925240" y="4179240"/>
            <a:ext cx="2925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descripcion, descuento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52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365760" y="109800"/>
            <a:ext cx="8411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197" strike="noStrike">
                <a:solidFill>
                  <a:srgbClr val="f5a623"/>
                </a:solidFill>
                <a:latin typeface="Georgia"/>
                <a:ea typeface="Georgia"/>
              </a:rPr>
              <a:t>05  IMPLEMENTACIÓN EN MySQL — Tablas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182880" y="685800"/>
            <a:ext cx="5028480" cy="4251960"/>
          </a:xfrm>
          <a:prstGeom prst="rect">
            <a:avLst/>
          </a:prstGeom>
          <a:solidFill>
            <a:srgbClr val="0a0a16"/>
          </a:solidFill>
          <a:ln w="12700">
            <a:solidFill>
              <a:srgbClr val="8888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182880" y="68580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88aa"/>
                </a:solidFill>
                <a:latin typeface="Consolas"/>
                <a:ea typeface="Consolas"/>
              </a:rPr>
              <a:t>MySQL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274320" y="1005840"/>
            <a:ext cx="4845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e8384d"/>
                </a:solidFill>
                <a:latin typeface="Consolas"/>
                <a:ea typeface="Consolas"/>
              </a:rPr>
              <a:t>CREATE DATABASE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cine;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e8384d"/>
                </a:solidFill>
                <a:latin typeface="Consolas"/>
                <a:ea typeface="Consolas"/>
              </a:rPr>
              <a:t>USE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cine;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e8384d"/>
                </a:solidFill>
                <a:latin typeface="Consolas"/>
                <a:ea typeface="Consolas"/>
              </a:rPr>
              <a:t>CREATE TABLE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pelicula (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id_pelicula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INT AUTO_INCREMENT PRIMARY KEY,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titulo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VARCHAR(150) NOT NULL,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duracion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INT,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clasificacion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VARCHAR(10),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genero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VARCHAR(50)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);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e8384d"/>
                </a:solidFill>
                <a:latin typeface="Consolas"/>
                <a:ea typeface="Consolas"/>
              </a:rPr>
              <a:t>CREATE TABLE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entrada (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id_entrada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INT AUTO_INCREMENT PRIMARY KEY,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c2b2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00c2b2"/>
                </a:solidFill>
                <a:latin typeface="Consolas"/>
                <a:ea typeface="Consolas"/>
              </a:rPr>
              <a:t>id_venta, id_sesion, id_asiento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INT,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5a623"/>
                </a:solidFill>
                <a:latin typeface="Consolas"/>
                <a:ea typeface="Consolas"/>
              </a:rPr>
              <a:t>precio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DECIMAL(6,2),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90d9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4a90d9"/>
                </a:solidFill>
                <a:latin typeface="Consolas"/>
                <a:ea typeface="Consolas"/>
              </a:rPr>
              <a:t>UNIQUE</a:t>
            </a: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 (id_sesion, id_asiento)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8f0"/>
                </a:solidFill>
                <a:latin typeface="Consolas"/>
                <a:ea typeface="Consolas"/>
              </a:rPr>
              <a:t>);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5394960" y="713160"/>
            <a:ext cx="3474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Georgia"/>
                <a:ea typeface="Georgia"/>
              </a:rPr>
              <a:t>10 Tablas Creadas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5394960" y="1170360"/>
            <a:ext cx="200520" cy="20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5687640" y="117036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departamento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5394960" y="1527120"/>
            <a:ext cx="200520" cy="20052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5687640" y="152712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empleado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5394960" y="1883520"/>
            <a:ext cx="200520" cy="20052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5687640" y="188352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cliente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5394960" y="2240280"/>
            <a:ext cx="200520" cy="20052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5687640" y="224028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pelicula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4"/>
          <p:cNvSpPr/>
          <p:nvPr/>
        </p:nvSpPr>
        <p:spPr>
          <a:xfrm>
            <a:off x="5394960" y="2597400"/>
            <a:ext cx="200520" cy="20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5"/>
          <p:cNvSpPr/>
          <p:nvPr/>
        </p:nvSpPr>
        <p:spPr>
          <a:xfrm>
            <a:off x="5687640" y="25974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sala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5394960" y="2953800"/>
            <a:ext cx="200520" cy="200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5687640" y="295380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asiento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8"/>
          <p:cNvSpPr/>
          <p:nvPr/>
        </p:nvSpPr>
        <p:spPr>
          <a:xfrm>
            <a:off x="5394960" y="3310560"/>
            <a:ext cx="200520" cy="200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5687640" y="331056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sesion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0"/>
          <p:cNvSpPr/>
          <p:nvPr/>
        </p:nvSpPr>
        <p:spPr>
          <a:xfrm>
            <a:off x="5394960" y="3666960"/>
            <a:ext cx="200520" cy="20052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1"/>
          <p:cNvSpPr/>
          <p:nvPr/>
        </p:nvSpPr>
        <p:spPr>
          <a:xfrm>
            <a:off x="5687640" y="366696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venta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22"/>
          <p:cNvSpPr/>
          <p:nvPr/>
        </p:nvSpPr>
        <p:spPr>
          <a:xfrm>
            <a:off x="5394960" y="4023720"/>
            <a:ext cx="200520" cy="20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3"/>
          <p:cNvSpPr/>
          <p:nvPr/>
        </p:nvSpPr>
        <p:spPr>
          <a:xfrm>
            <a:off x="5687640" y="402372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entrada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24"/>
          <p:cNvSpPr/>
          <p:nvPr/>
        </p:nvSpPr>
        <p:spPr>
          <a:xfrm>
            <a:off x="5394960" y="4380480"/>
            <a:ext cx="200520" cy="20052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5"/>
          <p:cNvSpPr/>
          <p:nvPr/>
        </p:nvSpPr>
        <p:spPr>
          <a:xfrm>
            <a:off x="5687640" y="438048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e8f0"/>
                </a:solidFill>
                <a:latin typeface="Calibri"/>
                <a:ea typeface="Calibri"/>
              </a:rPr>
              <a:t>promocion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26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365760" y="109800"/>
            <a:ext cx="8411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197" strike="noStrike">
                <a:solidFill>
                  <a:srgbClr val="f5a623"/>
                </a:solidFill>
                <a:latin typeface="Georgia"/>
                <a:ea typeface="Georgia"/>
              </a:rPr>
              <a:t>06  FUNCIONALIDADES EXTRA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182880" y="713160"/>
            <a:ext cx="4251240" cy="1261080"/>
          </a:xfrm>
          <a:prstGeom prst="rect">
            <a:avLst/>
          </a:prstGeom>
          <a:solidFill>
            <a:srgbClr val="1e1e3a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182880" y="713160"/>
            <a:ext cx="712440" cy="1261080"/>
          </a:xfrm>
          <a:prstGeom prst="rect">
            <a:avLst/>
          </a:prstGeom>
          <a:solidFill>
            <a:srgbClr val="00c2b2">
              <a:alpha val="85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182880" y="804600"/>
            <a:ext cx="71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onsolas"/>
                <a:ea typeface="Consolas"/>
              </a:rPr>
              <a:t>VISTAS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182880" y="1216080"/>
            <a:ext cx="712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3 Vistas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969120" y="786240"/>
            <a:ext cx="334584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v_ocupacion_salas — entradas/capacidad por sesión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v_ventas_por_dia — totales agrupados por fecha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v_clientes_frecuentes — ranking por gasto total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182880" y="2130480"/>
            <a:ext cx="4251240" cy="1261080"/>
          </a:xfrm>
          <a:prstGeom prst="rect">
            <a:avLst/>
          </a:prstGeom>
          <a:solidFill>
            <a:srgbClr val="1e1e3a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8"/>
          <p:cNvSpPr/>
          <p:nvPr/>
        </p:nvSpPr>
        <p:spPr>
          <a:xfrm>
            <a:off x="182880" y="2130480"/>
            <a:ext cx="712440" cy="126108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182880" y="2221920"/>
            <a:ext cx="71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onsolas"/>
                <a:ea typeface="Consolas"/>
              </a:rPr>
              <a:t>PROC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182880" y="2633760"/>
            <a:ext cx="712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2 Proced.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969120" y="2203560"/>
            <a:ext cx="334584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sp_comprar_entrada — transacción segura con rollback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sp_actualizar_puntos — suma puntos a cliente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182880" y="3548160"/>
            <a:ext cx="4251240" cy="1261080"/>
          </a:xfrm>
          <a:prstGeom prst="rect">
            <a:avLst/>
          </a:prstGeom>
          <a:solidFill>
            <a:srgbClr val="1e1e3a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3"/>
          <p:cNvSpPr/>
          <p:nvPr/>
        </p:nvSpPr>
        <p:spPr>
          <a:xfrm>
            <a:off x="182880" y="3548160"/>
            <a:ext cx="712440" cy="1261080"/>
          </a:xfrm>
          <a:prstGeom prst="rect">
            <a:avLst/>
          </a:prstGeom>
          <a:solidFill>
            <a:srgbClr val="e8384d">
              <a:alpha val="85000"/>
            </a:srgbClr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182880" y="3639600"/>
            <a:ext cx="71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16"/>
                </a:solidFill>
                <a:latin typeface="Consolas"/>
                <a:ea typeface="Consolas"/>
              </a:rPr>
              <a:t>FUNC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182880" y="4051080"/>
            <a:ext cx="712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a0a16"/>
                </a:solidFill>
                <a:latin typeface="Calibri"/>
                <a:ea typeface="Calibri"/>
              </a:rPr>
              <a:t>2 Funciones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969120" y="3621240"/>
            <a:ext cx="334584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fn_calcular_descuento(precio, %) — devuelve precio final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▸ </a:t>
            </a:r>
            <a:r>
              <a:rPr b="0" lang="en-US" sz="1000" spc="-1" strike="noStrike">
                <a:solidFill>
                  <a:srgbClr val="e8e8f0"/>
                </a:solidFill>
                <a:latin typeface="Calibri"/>
                <a:ea typeface="Calibri"/>
              </a:rPr>
              <a:t>fn_ocupacion_sala(sesion) — % ocupación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32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365760" y="109800"/>
            <a:ext cx="8411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197" strike="noStrike">
                <a:solidFill>
                  <a:srgbClr val="f5a623"/>
                </a:solidFill>
                <a:latin typeface="Georgia"/>
                <a:ea typeface="Georgia"/>
              </a:rPr>
              <a:t>07  CONSULTAS BÁSICAS Y RESULTADOS (II)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228600" y="644760"/>
            <a:ext cx="4159800" cy="1046160"/>
          </a:xfrm>
          <a:prstGeom prst="rect">
            <a:avLst/>
          </a:prstGeom>
          <a:solidFill>
            <a:srgbClr val="0a0a16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228600" y="64476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  <a:ea typeface="Calibri"/>
              </a:rPr>
              <a:t>Ventas por día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4"/>
          <p:cNvSpPr/>
          <p:nvPr/>
        </p:nvSpPr>
        <p:spPr>
          <a:xfrm>
            <a:off x="255960" y="900000"/>
            <a:ext cx="4022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384d"/>
                </a:solidFill>
                <a:latin typeface="Consolas"/>
                <a:ea typeface="Consolas"/>
              </a:rPr>
              <a:t>SELECT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DATE(fecha) AS dia,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      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nsolas"/>
                <a:ea typeface="Consolas"/>
              </a:rPr>
              <a:t>SUM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(total) AS total_dia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384d"/>
                </a:solidFill>
                <a:latin typeface="Consolas"/>
                <a:ea typeface="Consolas"/>
              </a:rPr>
              <a:t>FROM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venta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384d"/>
                </a:solidFill>
                <a:latin typeface="Consolas"/>
                <a:ea typeface="Consolas"/>
              </a:rPr>
              <a:t>GROUP BY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dia;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04" name="Table 0"/>
          <p:cNvGraphicFramePr/>
          <p:nvPr/>
        </p:nvGraphicFramePr>
        <p:xfrm>
          <a:off x="182880" y="1783080"/>
          <a:ext cx="4160160" cy="52848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</a:tblGrid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a0a16"/>
                          </a:solidFill>
                          <a:latin typeface="Calibri"/>
                          <a:ea typeface="Calibri"/>
                        </a:rPr>
                        <a:t>dia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a0a16"/>
                          </a:solidFill>
                          <a:latin typeface="Calibri"/>
                          <a:ea typeface="Calibri"/>
                        </a:rPr>
                        <a:t>total_dia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f5a623"/>
                    </a:solidFill>
                  </a:tcPr>
                </a:tc>
              </a:tr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2026-05-25</a:t>
                      </a:r>
                      <a:endParaRPr b="0" lang="es-E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45.00 €</a:t>
                      </a:r>
                      <a:endParaRPr b="0" lang="es-E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</a:tr>
            </a:tbl>
          </a:graphicData>
        </a:graphic>
      </p:graphicFrame>
      <p:sp>
        <p:nvSpPr>
          <p:cNvPr id="305" name="Shape 5"/>
          <p:cNvSpPr/>
          <p:nvPr/>
        </p:nvSpPr>
        <p:spPr>
          <a:xfrm>
            <a:off x="4800600" y="685800"/>
            <a:ext cx="4159800" cy="1005120"/>
          </a:xfrm>
          <a:prstGeom prst="rect">
            <a:avLst/>
          </a:prstGeom>
          <a:solidFill>
            <a:srgbClr val="0a0a16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4846320" y="68580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384d"/>
                </a:solidFill>
                <a:latin typeface="Calibri"/>
                <a:ea typeface="Calibri"/>
              </a:rPr>
              <a:t>Catálogo de Películas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4864680" y="960120"/>
            <a:ext cx="4022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8384d"/>
                </a:solidFill>
                <a:latin typeface="Consolas"/>
                <a:ea typeface="Consolas"/>
              </a:rPr>
              <a:t>SELECT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titulo, duracion,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      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clasificacion, genero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8384d"/>
                </a:solidFill>
                <a:latin typeface="Consolas"/>
                <a:ea typeface="Consolas"/>
              </a:rPr>
              <a:t>FROM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pelicula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384d"/>
                </a:solidFill>
                <a:latin typeface="Consolas"/>
                <a:ea typeface="Consolas"/>
              </a:rPr>
              <a:t>ORDER BY</a:t>
            </a:r>
            <a:r>
              <a:rPr b="0" lang="en-US" sz="900" spc="-1" strike="noStrike">
                <a:solidFill>
                  <a:srgbClr val="e8e8f0"/>
                </a:solidFill>
                <a:latin typeface="Consolas"/>
                <a:ea typeface="Consolas"/>
              </a:rPr>
              <a:t> duracion DESC;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08" name="Table 1"/>
          <p:cNvGraphicFramePr/>
          <p:nvPr/>
        </p:nvGraphicFramePr>
        <p:xfrm>
          <a:off x="4800600" y="1783080"/>
          <a:ext cx="4160160" cy="1731600"/>
        </p:xfrm>
        <a:graphic>
          <a:graphicData uri="http://schemas.openxmlformats.org/drawingml/2006/table">
            <a:tbl>
              <a:tblPr/>
              <a:tblGrid>
                <a:gridCol w="2194560"/>
                <a:gridCol w="685800"/>
                <a:gridCol w="1280160"/>
              </a:tblGrid>
              <a:tr h="247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titulo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e8384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dur.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e8384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genero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e8384d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Titanic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195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Drama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Interstellar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169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Sci-Fi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Avatar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162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Sci-Fi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The Dark Knight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152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Acción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Inception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148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Sci-Fi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1e1e3a"/>
                    </a:solidFill>
                  </a:tcPr>
                </a:tc>
              </a:tr>
              <a:tr h="247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Joker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122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e8e8f0"/>
                          </a:solidFill>
                          <a:latin typeface="Calibri"/>
                          <a:ea typeface="Calibri"/>
                        </a:rPr>
                        <a:t>Drama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8888aa"/>
                      </a:solidFill>
                      <a:prstDash val="solid"/>
                    </a:lnL>
                    <a:lnR w="6480">
                      <a:solidFill>
                        <a:srgbClr val="8888aa"/>
                      </a:solidFill>
                      <a:prstDash val="solid"/>
                    </a:lnR>
                    <a:lnT w="6480">
                      <a:solidFill>
                        <a:srgbClr val="8888aa"/>
                      </a:solidFill>
                      <a:prstDash val="solid"/>
                    </a:lnT>
                    <a:lnB w="6480">
                      <a:solidFill>
                        <a:srgbClr val="8888aa"/>
                      </a:solidFill>
                      <a:prstDash val="solid"/>
                    </a:lnB>
                    <a:solidFill>
                      <a:srgbClr val="252545"/>
                    </a:solidFill>
                  </a:tcPr>
                </a:tc>
              </a:tr>
            </a:tbl>
          </a:graphicData>
        </a:graphic>
      </p:graphicFrame>
      <p:sp>
        <p:nvSpPr>
          <p:cNvPr id="309" name="Text 8"/>
          <p:cNvSpPr/>
          <p:nvPr/>
        </p:nvSpPr>
        <p:spPr>
          <a:xfrm>
            <a:off x="182880" y="242316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2b2"/>
                </a:solidFill>
                <a:latin typeface="Calibri"/>
                <a:ea typeface="Calibri"/>
              </a:rPr>
              <a:t>Duración de películas (minutos)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10" name="Chart 0"/>
          <p:cNvGraphicFramePr/>
          <p:nvPr/>
        </p:nvGraphicFramePr>
        <p:xfrm>
          <a:off x="182880" y="2789280"/>
          <a:ext cx="8777520" cy="219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11" name="Shape 9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e8384d"/>
          </a:solidFill>
          <a:ln w="12700">
            <a:solidFill>
              <a:srgbClr val="e83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"/>
          <p:cNvSpPr/>
          <p:nvPr/>
        </p:nvSpPr>
        <p:spPr>
          <a:xfrm>
            <a:off x="731520" y="640080"/>
            <a:ext cx="7680240" cy="36572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914400" y="777240"/>
            <a:ext cx="7314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395" strike="noStrike">
                <a:solidFill>
                  <a:srgbClr val="f5a623"/>
                </a:solidFill>
                <a:latin typeface="Georgia"/>
                <a:ea typeface="Georgia"/>
              </a:rPr>
              <a:t>RESUMEN DEL PROYECTO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2160000" y="1440000"/>
            <a:ext cx="1005120" cy="1005120"/>
          </a:xfrm>
          <a:prstGeom prst="rect">
            <a:avLst/>
          </a:prstGeom>
          <a:solidFill>
            <a:srgbClr val="00c2b2">
              <a:alpha val="85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2160000" y="144000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10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2160000" y="21258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Tablas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6"/>
          <p:cNvSpPr/>
          <p:nvPr/>
        </p:nvSpPr>
        <p:spPr>
          <a:xfrm>
            <a:off x="3494880" y="1440000"/>
            <a:ext cx="1005120" cy="1005120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3494880" y="144000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3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3494880" y="21258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Vistas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2"/>
          <p:cNvSpPr/>
          <p:nvPr/>
        </p:nvSpPr>
        <p:spPr>
          <a:xfrm>
            <a:off x="4709160" y="1463040"/>
            <a:ext cx="1005120" cy="100512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4709160" y="150876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4709160" y="210312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Procs.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15"/>
          <p:cNvSpPr/>
          <p:nvPr/>
        </p:nvSpPr>
        <p:spPr>
          <a:xfrm>
            <a:off x="5943600" y="1463040"/>
            <a:ext cx="1005120" cy="1005120"/>
          </a:xfrm>
          <a:prstGeom prst="rect">
            <a:avLst/>
          </a:prstGeom>
          <a:solidFill>
            <a:srgbClr val="00c2b2">
              <a:alpha val="85000"/>
            </a:srgbClr>
          </a:solidFill>
          <a:ln w="12700">
            <a:solidFill>
              <a:srgbClr val="00c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5943600" y="150876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17"/>
          <p:cNvSpPr/>
          <p:nvPr/>
        </p:nvSpPr>
        <p:spPr>
          <a:xfrm>
            <a:off x="5943600" y="210312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e8f0"/>
                </a:solidFill>
                <a:latin typeface="Calibri"/>
                <a:ea typeface="Calibri"/>
              </a:rPr>
              <a:t>Funciones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914400" y="265212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8e8f0"/>
                </a:solidFill>
                <a:latin typeface="Calibri"/>
                <a:ea typeface="Calibri"/>
              </a:rPr>
              <a:t>Base de datos completamente funcional en MySQL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914400" y="30909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23"/>
          <p:cNvSpPr/>
          <p:nvPr/>
        </p:nvSpPr>
        <p:spPr>
          <a:xfrm>
            <a:off x="914400" y="3548160"/>
            <a:ext cx="7314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888aa"/>
                </a:solidFill>
                <a:latin typeface="Calibri"/>
                <a:ea typeface="Calibri"/>
              </a:rPr>
              <a:t>Cine Multiplex S.A. — Proyecto de Base de Datos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24"/>
          <p:cNvSpPr/>
          <p:nvPr/>
        </p:nvSpPr>
        <p:spPr>
          <a:xfrm>
            <a:off x="0" y="5070600"/>
            <a:ext cx="9143280" cy="72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2026-05-25T15:23:00Z</dcterms:created>
  <dc:creator>PptxGenJS</dc:creator>
  <dc:description/>
  <dc:language>es-ES</dc:language>
  <cp:lastModifiedBy/>
  <cp:lastPrinted>2026-05-25T17:39:57Z</cp:lastPrinted>
  <dcterms:modified xsi:type="dcterms:W3CDTF">2026-05-25T17:49:01Z</dcterms:modified>
  <cp:revision>3</cp:revision>
  <dc:subject>PptxGenJS Presentation</dc:subject>
  <dc:title>Base de Datos Cine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